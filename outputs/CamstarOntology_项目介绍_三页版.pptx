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3311cb65674e2f" /><Relationship Type="http://schemas.openxmlformats.org/officeDocument/2006/relationships/extended-properties" Target="/docProps/app.xml" Id="R98aacce2bfbe40bf" /><Relationship Type="http://schemas.openxmlformats.org/officeDocument/2006/relationships/officeDocument" Target="/ppt/presentation.xml" Id="Raddce1ec33e14b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ac973f8264987"/>
  </p:sldMasterIdLst>
  <p:notesMasterIdLst>
    <p:notesMasterId xmlns:r="http://schemas.openxmlformats.org/officeDocument/2006/relationships" r:id="Rba82a328394a40b5"/>
  </p:notesMasterIdLst>
  <p:sldIdLst>
    <p:sldId xmlns:r="http://schemas.openxmlformats.org/officeDocument/2006/relationships" id="256" r:id="R8ae4f65b2d5c492b"/>
    <p:sldId xmlns:r="http://schemas.openxmlformats.org/officeDocument/2006/relationships" id="257" r:id="R63c0fcbf4a59425e"/>
    <p:sldId xmlns:r="http://schemas.openxmlformats.org/officeDocument/2006/relationships" id="258" r:id="R7c5093db2c6648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20ddafa79c4273" /><Relationship Type="http://schemas.openxmlformats.org/officeDocument/2006/relationships/slideMaster" Target="/ppt/slideMasters/slideMaster1.xml" Id="R215ac973f8264987" /><Relationship Type="http://schemas.openxmlformats.org/officeDocument/2006/relationships/notesMaster" Target="/ppt/notesMasters/notesMaster1.xml" Id="Rba82a328394a40b5" /><Relationship Type="http://schemas.openxmlformats.org/officeDocument/2006/relationships/presProps" Target="/ppt/presProps.xml" Id="R963f5b7f542b4532" /><Relationship Type="http://schemas.openxmlformats.org/officeDocument/2006/relationships/tableStyles" Target="/ppt/tableStyles.xml" Id="R9cc46e5431f741d2" /><Relationship Type="http://schemas.openxmlformats.org/officeDocument/2006/relationships/slide" Target="/ppt/slides/slide1.xml" Id="R8ae4f65b2d5c492b" /><Relationship Type="http://schemas.openxmlformats.org/officeDocument/2006/relationships/slide" Target="/ppt/slides/slide2.xml" Id="R63c0fcbf4a59425e" /><Relationship Type="http://schemas.openxmlformats.org/officeDocument/2006/relationships/slide" Target="/ppt/slides/slide3.xml" Id="R7c5093db2c6648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f07e350a8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7a10f6b8f43b8" /><Relationship Type="http://schemas.openxmlformats.org/officeDocument/2006/relationships/notesMaster" Target="/ppt/notesMasters/notesMaster1.xml" Id="R07f4105781a4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0c1d516bab4844" /><Relationship Type="http://schemas.openxmlformats.org/officeDocument/2006/relationships/notesMaster" Target="/ppt/notesMasters/notesMaster1.xml" Id="R37d1b2d38f5f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8d4f66a2124a4b" /><Relationship Type="http://schemas.openxmlformats.org/officeDocument/2006/relationships/notesMaster" Target="/ppt/notesMasters/notesMaster1.xml" Id="R8111e27d2c58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开场先说明平台的沟通目标：把原本分散在 Camstar 物理表、字段和外键中的模型知识，转化为可搜索、可追踪、可解释的知识图谱。右侧是真实部署系统的全景图。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README.md（本地事实来源，2026-08-06）</a:t>
            </a:r>
          </a:p>
          <a:p xmlns:a="http://schemas.openxmlformats.org/drawingml/2006/main">
            <a:r>
              <a:t>- 部署系统 http://172.17.119.98:5050/（界面截图与统计，采集于 2026-08-06）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这一页强调系统不是单纯的图谱展示。它从物理 Schema 对齐开始，经由本体建模、校验和 Neo4j 加载形成治理闭环，再向上提供图谱探索、SQL 查询构建和 Graph-RAG 协作能力。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AGENTS.md 与 README.md（流程与功能事实来源，2026-08-06）</a:t>
            </a:r>
          </a:p>
          <a:p xmlns:a="http://schemas.openxmlformats.org/drawingml/2006/main">
            <a:r>
              <a:t>- 部署系统 http://172.17.119.98:5050/（功能核验，2026-08-06）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Container 作为示例演示完整操作：先搜索并聚焦节点，打开详情查看属性与 Navigation 关系，再进入查询构建器选择对象、验证物理关联并生成 SQL 骨架。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部署系统 http://172.17.119.98:5050/（Container 详情与查询构建器截图，采集于 2026-08-06）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88fe8781f4b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7c686980c64dd9" /><Relationship Type="http://schemas.openxmlformats.org/officeDocument/2006/relationships/slideLayout" Target="/ppt/slideLayouts/slideLayout1.xml" Id="R6d34757ce3ae4c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34757ce3ae4c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abf93195c4a1e" /><Relationship Type="http://schemas.openxmlformats.org/officeDocument/2006/relationships/image" Target="/ppt/media/image.jpeg" Id="R08afd224977f4408" /><Relationship Type="http://schemas.openxmlformats.org/officeDocument/2006/relationships/notesSlide" Target="/ppt/notesSlides/notesSlide1.xml" Id="Rdc607e533b1e46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8169f84754819" /><Relationship Type="http://schemas.openxmlformats.org/officeDocument/2006/relationships/notesSlide" Target="/ppt/notesSlides/notesSlide2.xml" Id="Rcfa13abed09846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6cacfde5e4073" /><Relationship Type="http://schemas.openxmlformats.org/officeDocument/2006/relationships/image" Target="/ppt/media/image2.jpeg" Id="R9a6adb7556ef4cc7" /><Relationship Type="http://schemas.openxmlformats.org/officeDocument/2006/relationships/notesSlide" Target="/ppt/notesSlides/notesSlide3.xml" Id="Rbb8f42d581b642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D0F4EBA-6293-41BF-85D9-D44D025E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762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61826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61826"/>
                </a:solidFill>
                <a:latin typeface="Arial"/>
                <a:ea typeface="Arial"/>
                <a:cs typeface="Arial"/>
              </a:rPr>
              <a:t>CamstarOntology</a:t>
            </a:r>
          </a:p>
        </p:txBody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9B79F50-9205-4FA8-9423-A60B5600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35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C7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C7A7"/>
                </a:solidFill>
                <a:latin typeface="Microsoft YaHei"/>
                <a:ea typeface="Microsoft YaHei"/>
                <a:cs typeface="Microsoft YaHei"/>
              </a:rPr>
              <a:t>SIEMENS OPCENTER MES · 本体知识图谱</a:t>
            </a:r>
          </a:p>
        </p:txBody>
      </p:sp>
      <p:sp>
        <p:nvSpPr>
          <p:cNvPr id="3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45F7B4A6-17D0-4EFD-90A4-F140F482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43125"/>
            <a:ext cx="542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让复杂的 MES 模型</a:t>
            </a:r>
          </a:p>
          <a:p xmlns:a="http://schemas.openxmlformats.org/drawingml/2006/main">
            <a:pPr algn="l">
              <a:defRPr sz="285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变成可探索的知识图谱</a:t>
            </a:r>
          </a:p>
        </p:txBody>
      </p:sp>
      <p:sp>
        <p:nvSpPr>
          <p:cNvPr id="4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89D702EA-06B8-47BF-BB57-3E21C772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57625"/>
            <a:ext cx="5334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统一物理 Schema、本体关系、Neo4j 图存储与 G6 交互探索，帮助团队快速理解 Camstar 业务对象及其连接方式。</a:t>
            </a:r>
          </a:p>
        </p:txBody>
      </p:sp>
      <p:sp>
        <p:nvSpPr>
          <p:cNvPr id="5" name="cover-evidence">
            <a:extLst xmlns:a="http://schemas.openxmlformats.org/drawingml/2006/main">
              <a:ext uri="{FF2B5EF4-FFF2-40B4-BE49-F238E27FC236}">
                <a16:creationId xmlns:a16="http://schemas.microsoft.com/office/drawing/2014/main" id="{9D4EF876-A16D-4ED4-A968-343BAC71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578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593 类  ·  8337 属性  ·  1592 关系</a:t>
            </a:r>
          </a:p>
        </p:txBody>
      </p:sp>
      <p:sp>
        <p:nvSpPr>
          <p:cNvPr id="6" name="CamstarOntology 全景图谱界面-backing">
            <a:extLst xmlns:a="http://schemas.openxmlformats.org/drawingml/2006/main">
              <a:ext uri="{FF2B5EF4-FFF2-40B4-BE49-F238E27FC236}">
                <a16:creationId xmlns:a16="http://schemas.microsoft.com/office/drawing/2014/main" id="{041F2F7C-EC20-4E40-9CF9-E337FC57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407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fd224977f4408"/>
          <a:srcRect xmlns:a="http://schemas.openxmlformats.org/drawingml/2006/main" l="22188" t="0" r="22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407"/>
            </a:avLst>
          </a:prstGeom>
        </p:spPr>
      </p:pic>
      <p:sp>
        <p:nvSpPr>
          <p:cNvPr id="8" name="footer-01">
            <a:extLst xmlns:a="http://schemas.openxmlformats.org/drawingml/2006/main">
              <a:ext uri="{FF2B5EF4-FFF2-40B4-BE49-F238E27FC236}">
                <a16:creationId xmlns:a16="http://schemas.microsoft.com/office/drawing/2014/main" id="{AC8054A0-7EAD-4D5B-B77A-B164F508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1716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apabilities-title">
            <a:extLst xmlns:a="http://schemas.openxmlformats.org/drawingml/2006/main">
              <a:ext uri="{FF2B5EF4-FFF2-40B4-BE49-F238E27FC236}">
                <a16:creationId xmlns:a16="http://schemas.microsoft.com/office/drawing/2014/main" id="{240E57A4-CC4A-40FD-A856-AA9E412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四层能力构成本体建模与使用闭环</a:t>
            </a:r>
          </a:p>
        </p:txBody>
      </p:sp>
      <p:sp>
        <p:nvSpPr>
          <p:cNvPr id="2" name="capabilities-subtitle">
            <a:extLst xmlns:a="http://schemas.openxmlformats.org/drawingml/2006/main">
              <a:ext uri="{FF2B5EF4-FFF2-40B4-BE49-F238E27FC236}">
                <a16:creationId xmlns:a16="http://schemas.microsoft.com/office/drawing/2014/main" id="{B0019EC1-8B79-40AA-B133-964F85E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从数据库事实出发，经过规范化建模和自动验证，最终服务于图谱探索与智能协作。</a:t>
            </a:r>
          </a:p>
        </p:txBody>
      </p:sp>
      <p:sp>
        <p:nvSpPr>
          <p:cNvPr id="3" name="horizontal-rule">
            <a:extLst xmlns:a="http://schemas.openxmlformats.org/drawingml/2006/main">
              <a:ext uri="{FF2B5EF4-FFF2-40B4-BE49-F238E27FC236}">
                <a16:creationId xmlns:a16="http://schemas.microsoft.com/office/drawing/2014/main" id="{92946F55-EA62-4D06-88BF-DCCD27B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6715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vertical-rule">
            <a:extLst xmlns:a="http://schemas.openxmlformats.org/drawingml/2006/main">
              <a:ext uri="{FF2B5EF4-FFF2-40B4-BE49-F238E27FC236}">
                <a16:creationId xmlns:a16="http://schemas.microsoft.com/office/drawing/2014/main" id="{57927D79-38E5-481B-A4E0-A9CC232A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apability-number-1">
            <a:extLst xmlns:a="http://schemas.openxmlformats.org/drawingml/2006/main">
              <a:ext uri="{FF2B5EF4-FFF2-40B4-BE49-F238E27FC236}">
                <a16:creationId xmlns:a16="http://schemas.microsoft.com/office/drawing/2014/main" id="{C0D78CDF-A39A-4FD7-A9D8-9200F0C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240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capability-title-1">
            <a:extLst xmlns:a="http://schemas.openxmlformats.org/drawingml/2006/main">
              <a:ext uri="{FF2B5EF4-FFF2-40B4-BE49-F238E27FC236}">
                <a16:creationId xmlns:a16="http://schemas.microsoft.com/office/drawing/2014/main" id="{8E518395-7992-4DBA-B39F-3EB39362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859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物理结构对齐</a:t>
            </a:r>
          </a:p>
        </p:txBody>
      </p:sp>
      <p:sp>
        <p:nvSpPr>
          <p:cNvPr id="7" name="capability-body-1">
            <a:extLst xmlns:a="http://schemas.openxmlformats.org/drawingml/2006/main">
              <a:ext uri="{FF2B5EF4-FFF2-40B4-BE49-F238E27FC236}">
                <a16:creationId xmlns:a16="http://schemas.microsoft.com/office/drawing/2014/main" id="{40800C5F-2018-4B93-823B-65F6952A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812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以 Database_Tables.csv 与 Database_Fields.csv 为唯一事实来源，统一 CDO、字段类型和外键。</a:t>
            </a:r>
          </a:p>
        </p:txBody>
      </p:sp>
      <p:sp>
        <p:nvSpPr>
          <p:cNvPr id="8" name="capability-number-2">
            <a:extLst xmlns:a="http://schemas.openxmlformats.org/drawingml/2006/main">
              <a:ext uri="{FF2B5EF4-FFF2-40B4-BE49-F238E27FC236}">
                <a16:creationId xmlns:a16="http://schemas.microsoft.com/office/drawing/2014/main" id="{854E37E1-EC5B-4A46-AB81-160930B9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240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capability-title-2">
            <a:extLst xmlns:a="http://schemas.openxmlformats.org/drawingml/2006/main">
              <a:ext uri="{FF2B5EF4-FFF2-40B4-BE49-F238E27FC236}">
                <a16:creationId xmlns:a16="http://schemas.microsoft.com/office/drawing/2014/main" id="{7AF1BAFA-AF7E-4AD6-9E0A-D3A2048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0859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规范化本体建模</a:t>
            </a:r>
          </a:p>
        </p:txBody>
      </p:sp>
      <p:sp>
        <p:nvSpPr>
          <p:cNvPr id="10" name="capability-body-2">
            <a:extLst xmlns:a="http://schemas.openxmlformats.org/drawingml/2006/main">
              <a:ext uri="{FF2B5EF4-FFF2-40B4-BE49-F238E27FC236}">
                <a16:creationId xmlns:a16="http://schemas.microsoft.com/office/drawing/2014/main" id="{D7E03CCA-2BCF-4CA2-9444-DBC4589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812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普通字段映射为数据属性，外键统一映射为 Navigation，并补齐跨模块关系与双语说明。</a:t>
            </a:r>
          </a:p>
        </p:txBody>
      </p:sp>
      <p:sp>
        <p:nvSpPr>
          <p:cNvPr id="11" name="capability-number-3">
            <a:extLst xmlns:a="http://schemas.openxmlformats.org/drawingml/2006/main">
              <a:ext uri="{FF2B5EF4-FFF2-40B4-BE49-F238E27FC236}">
                <a16:creationId xmlns:a16="http://schemas.microsoft.com/office/drawing/2014/main" id="{80715A0D-2C7C-4ADC-AD6D-632291DD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capability-title-3">
            <a:extLst xmlns:a="http://schemas.openxmlformats.org/drawingml/2006/main">
              <a:ext uri="{FF2B5EF4-FFF2-40B4-BE49-F238E27FC236}">
                <a16:creationId xmlns:a16="http://schemas.microsoft.com/office/drawing/2014/main" id="{D75E6E0B-4A6A-4006-BF9B-3C304361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624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验证与图数据库加载</a:t>
            </a:r>
          </a:p>
        </p:txBody>
      </p:sp>
      <p:sp>
        <p:nvSpPr>
          <p:cNvPr id="13" name="capability-body-3">
            <a:extLst xmlns:a="http://schemas.openxmlformats.org/drawingml/2006/main">
              <a:ext uri="{FF2B5EF4-FFF2-40B4-BE49-F238E27FC236}">
                <a16:creationId xmlns:a16="http://schemas.microsoft.com/office/drawing/2014/main" id="{49D9104C-3799-43FE-9212-450C3BEF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自动检查缺失属性、类型不一致与关系遗漏，再通过批量 UNWIND 同步到 Neo4j。</a:t>
            </a:r>
          </a:p>
        </p:txBody>
      </p:sp>
      <p:sp>
        <p:nvSpPr>
          <p:cNvPr id="14" name="capability-number-4">
            <a:extLst xmlns:a="http://schemas.openxmlformats.org/drawingml/2006/main">
              <a:ext uri="{FF2B5EF4-FFF2-40B4-BE49-F238E27FC236}">
                <a16:creationId xmlns:a16="http://schemas.microsoft.com/office/drawing/2014/main" id="{5DC0F3FA-C1D6-4508-9C8B-83DEDB18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005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capability-title-4">
            <a:extLst xmlns:a="http://schemas.openxmlformats.org/drawingml/2006/main">
              <a:ext uri="{FF2B5EF4-FFF2-40B4-BE49-F238E27FC236}">
                <a16:creationId xmlns:a16="http://schemas.microsoft.com/office/drawing/2014/main" id="{57E6A83D-6109-4FF5-A578-181BC284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624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交互探索与智能协作</a:t>
            </a:r>
          </a:p>
        </p:txBody>
      </p:sp>
      <p:sp>
        <p:nvSpPr>
          <p:cNvPr id="16" name="capability-body-4">
            <a:extLst xmlns:a="http://schemas.openxmlformats.org/drawingml/2006/main">
              <a:ext uri="{FF2B5EF4-FFF2-40B4-BE49-F238E27FC236}">
                <a16:creationId xmlns:a16="http://schemas.microsoft.com/office/drawing/2014/main" id="{B4F92019-B829-43F8-B1D4-AEA7C89E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5772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支持搜索、邻域高亮、节点详情与查询构建；Graph‑RAG 通过 @实体提供上下文问答。</a:t>
            </a:r>
          </a:p>
        </p:txBody>
      </p:sp>
      <p:sp>
        <p:nvSpPr>
          <p:cNvPr id="17" name="footer-02">
            <a:extLst xmlns:a="http://schemas.openxmlformats.org/drawingml/2006/main">
              <a:ext uri="{FF2B5EF4-FFF2-40B4-BE49-F238E27FC236}">
                <a16:creationId xmlns:a16="http://schemas.microsoft.com/office/drawing/2014/main" id="{2D22C7CF-4CEC-411E-8942-565F1B97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3318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A3B35880-F815-4E8E-8725-8708C7D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从节点理解到查询生成</a:t>
            </a:r>
          </a:p>
        </p:txBody>
      </p:sp>
      <p:sp>
        <p:nvSpPr>
          <p:cNvPr id="2" name="workflow-stat">
            <a:extLst xmlns:a="http://schemas.openxmlformats.org/drawingml/2006/main">
              <a:ext uri="{FF2B5EF4-FFF2-40B4-BE49-F238E27FC236}">
                <a16:creationId xmlns:a16="http://schemas.microsoft.com/office/drawing/2014/main" id="{B29B0C1C-2FF7-4F99-8E11-29AC749B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C7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0C7A7"/>
                </a:solidFill>
                <a:latin typeface="Microsoft YaHei"/>
                <a:ea typeface="Microsoft YaHei"/>
                <a:cs typeface="Microsoft YaHei"/>
              </a:rPr>
              <a:t>54 / 96</a:t>
            </a:r>
          </a:p>
        </p:txBody>
      </p:sp>
      <p:sp>
        <p:nvSpPr>
          <p:cNvPr id="3" name="workflow-stat-label">
            <a:extLst xmlns:a="http://schemas.openxmlformats.org/drawingml/2006/main">
              <a:ext uri="{FF2B5EF4-FFF2-40B4-BE49-F238E27FC236}">
                <a16:creationId xmlns:a16="http://schemas.microsoft.com/office/drawing/2014/main" id="{F7ECE6B6-42A3-4840-AF74-0A4E250D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193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Container 图上邻居 / 完整关系</a:t>
            </a:r>
          </a:p>
        </p:txBody>
      </p:sp>
      <p:sp>
        <p:nvSpPr>
          <p:cNvPr id="4" name="workflow-rule">
            <a:extLst xmlns:a="http://schemas.openxmlformats.org/drawingml/2006/main">
              <a:ext uri="{FF2B5EF4-FFF2-40B4-BE49-F238E27FC236}">
                <a16:creationId xmlns:a16="http://schemas.microsoft.com/office/drawing/2014/main" id="{B9CBBCB8-BBB0-454C-9FCC-9026AB95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33725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FCE9D29E-DB6F-4612-AF54-3E22B42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71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01  搜索与聚焦</a:t>
            </a:r>
          </a:p>
        </p:txBody>
      </p:sp>
      <p:sp>
        <p:nvSpPr>
          <p:cNvPr id="6" name="workflow-step-1-body">
            <a:extLst xmlns:a="http://schemas.openxmlformats.org/drawingml/2006/main">
              <a:ext uri="{FF2B5EF4-FFF2-40B4-BE49-F238E27FC236}">
                <a16:creationId xmlns:a16="http://schemas.microsoft.com/office/drawing/2014/main" id="{5EC30FCB-68FA-47AC-B3B3-7BA44E35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147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按技术名或中文名定位业务对象，立即突出相关节点。</a:t>
            </a:r>
          </a:p>
        </p:txBody>
      </p:sp>
      <p:sp>
        <p:nvSpPr>
          <p:cNvPr id="7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CE0A84CF-F89B-4729-A398-7277366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362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02  查看属性与关系</a:t>
            </a:r>
          </a:p>
        </p:txBody>
      </p:sp>
      <p:sp>
        <p:nvSpPr>
          <p:cNvPr id="8" name="workflow-step-2-body">
            <a:extLst xmlns:a="http://schemas.openxmlformats.org/drawingml/2006/main">
              <a:ext uri="{FF2B5EF4-FFF2-40B4-BE49-F238E27FC236}">
                <a16:creationId xmlns:a16="http://schemas.microsoft.com/office/drawing/2014/main" id="{CC31E0D5-9519-4057-9940-843591C1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053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识别字段类型、Navigation 目标、入向引用与出向引用。</a:t>
            </a:r>
          </a:p>
        </p:txBody>
      </p:sp>
      <p:sp>
        <p:nvSpPr>
          <p:cNvPr id="9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1822ABAA-18E3-44B8-8FCD-A50FF3BC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5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1826"/>
                </a:solidFill>
                <a:latin typeface="Microsoft YaHei"/>
                <a:ea typeface="Microsoft YaHei"/>
                <a:cs typeface="Microsoft YaHei"/>
              </a:rPr>
              <a:t>03  生成查询骨架</a:t>
            </a:r>
          </a:p>
        </p:txBody>
      </p:sp>
      <p:sp>
        <p:nvSpPr>
          <p:cNvPr id="10" name="workflow-step-3-body">
            <a:extLst xmlns:a="http://schemas.openxmlformats.org/drawingml/2006/main">
              <a:ext uri="{FF2B5EF4-FFF2-40B4-BE49-F238E27FC236}">
                <a16:creationId xmlns:a16="http://schemas.microsoft.com/office/drawing/2014/main" id="{E69C9A85-9733-4CED-877D-28040E5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95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选择对象并验证 JOIN 路径，生成 Oracle / SQL Server SQL。</a:t>
            </a:r>
          </a:p>
        </p:txBody>
      </p:sp>
      <p:sp>
        <p:nvSpPr>
          <p:cNvPr id="11" name="查询构建器与 Container 关系聚焦界面-backing">
            <a:extLst xmlns:a="http://schemas.openxmlformats.org/drawingml/2006/main">
              <a:ext uri="{FF2B5EF4-FFF2-40B4-BE49-F238E27FC236}">
                <a16:creationId xmlns:a16="http://schemas.microsoft.com/office/drawing/2014/main" id="{8D22E64E-4953-43C8-9966-2173F39C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407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adb7556ef4cc7"/>
          <a:srcRect xmlns:a="http://schemas.openxmlformats.org/drawingml/2006/main" l="22188" t="0" r="22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407"/>
            </a:avLst>
          </a:prstGeom>
        </p:spPr>
      </p:pic>
      <p:sp>
        <p:nvSpPr>
          <p:cNvPr id="13" name="footer-03">
            <a:extLst xmlns:a="http://schemas.openxmlformats.org/drawingml/2006/main">
              <a:ext uri="{FF2B5EF4-FFF2-40B4-BE49-F238E27FC236}">
                <a16:creationId xmlns:a16="http://schemas.microsoft.com/office/drawing/2014/main" id="{81B3A7C4-E458-42D9-8148-C5103E63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4440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2026-08-06T09:54:02.2270000Z</dcterms:created>
  <dcterms:modified xsi:type="dcterms:W3CDTF">2026-08-06T09:54:02.2270000Z</dcterms:modified>
</coreProperties>
</file>